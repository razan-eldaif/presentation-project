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Software Quality Assurance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2AFFA"/>
                </a:solidFill>
              </a:defRPr>
            </a:pPr>
            <a:r>
              <a:t>A Comprehensive Guide to QA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Presented by: Razan Abdalla QC Engineer at Aqar Teaching Assistant, Sudan University of Science and Technology Software Engineering Bachelor Degree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About the Presenter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Introduction to QA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What is Quality Assurance (QA)?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QA is a systematic process to ensure quality standards are met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Focuses on preventing defects through process improvement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Encompasses the entire software development lifecycle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Proactive approach: "Are we building the product right?"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What is Testing?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Testing is the process of executing software to find defects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Focuses on detecting defects in the product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Part of the QA process, but not the entire process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Reactive approach: "Did we build it correctly?"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Importance of Software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Customer Satisfaction: Delivers reliable, high-quality products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💰 Cost Reduction: Early defect detection saves money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🛡️ Risk Mitigation: Prevents critical failures in production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⚡ Faster Time-to-Market: Streamlined processes reduce delays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🏆 Competitive Advantage: Quality products build reputation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Example: Cost of Bugs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Key Insight: Fixing a bug in production can cost 100x more than fixing it during requirements!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🚀 Mars Climate Orbiter (1999): $327M lost due to unit conversion error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💳 Knight Capital (2012): $440M lost in 45 minutes from deployment bug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🏥 Therac-25 (1985-1987): Radiation overdoses caused by software race condition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✈️ Boeing 737 MAX (2018-2019): Software issues led to tragic accidents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Quality isn't expensive—it's priceless!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Introduction to QA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What is Quality Assurance (QA)?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QA is a systematic process to ensure quality standards are met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Focuses on preventing defects through process improvement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Encompasses the entire software development lifecycle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Proactive approach: "Are we building the product right?"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What is Testing?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Testing is the process of executing software to find defects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Focuses on detecting defects in the product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Part of the QA process, but not the entire process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Reactive approach: "Did we build it correctly?"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Importance of Software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Customer Satisfaction: Delivers reliable, high-quality products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💰 Cost Reduction: Early defect detection saves money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🛡️ Risk Mitigation: Prevents critical failures in production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⚡ Faster Time-to-Market: Streamlined processes reduce delays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🏆 Competitive Advantage: Quality products build reputation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Example: Cost of Bugs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Key Insight: Fixing a bug in production can cost 100x more than fixing it during requirements!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🚀 Mars Climate Orbiter (1999): $327M lost due to unit conversion error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💳 Knight Capital (2012): $440M lost in 45 minutes from deployment bug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🏥 Therac-25 (1985-1987): Radiation overdoses caused by software race condition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✈️ Boeing 737 MAX (2018-2019): Software issues led to tragic accidents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Quality isn't expensive—it's priceless!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'Why' of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Why QA is Crucial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🛡️ Reliability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Ensures consistent performance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Builds user trust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Reduces downtime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⚠️ Risk Reduction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Identifies vulnerabilities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Prevents security breaches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Protects brand reputation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Real-World Software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🎮 Cyberpunk 2077 (2020): Rushed release led to game-breaking bugs, refunds, delisting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🏛️ Healthcare.gov (2013): Launch crashed due to insufficient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🚗 Toyota Acceleration Issue (2009-2011): Software defect led to massive recall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📱 Apple Maps (2012): Inaccurate data, missing features—public embarrassment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💻 Windows Vista (2007): Performance and compatibility issues hurt adoption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Cost Impact of Late Bug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The earlier you catch bugs, the less they cost!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'Why' of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Why QA is Crucial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🛡️ Reliability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Ensures consistent performance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Builds user trust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Reduces downtime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⚠️ Risk Reduction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Identifies vulnerabilities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Prevents security breaches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Protects brand reputation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Real-World Software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🎮 Cyberpunk 2077 (2020): Rushed release led to game-breaking bugs, refunds, delisting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🏛️ Healthcare.gov (2013): Launch crashed due to insufficient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🚗 Toyota Acceleration Issue (2009-2011): Software defect led to massive recall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📱 Apple Maps (2012): Inaccurate data, missing features—public embarrassment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💻 Windows Vista (2007): Performance and compatibility issues hurt adoption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Cost Impact of Late Bug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The earlier you catch bugs, the less they cost!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Fundamental Limitation: Testing is Always Incomplete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Mathematical Proof: Testing is Incomplete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i="1">
                <a:solidFill>
                  <a:srgbClr val="42AFFA"/>
                </a:solidFill>
              </a:defRPr>
            </a:pPr>
            <a:r>
              <a:t>"Program testing can be used to show the presence of bugs, but never to show their absence!" — Edsger W. Dijkstra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Example: Simple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Pesticide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Risk-Based Testing: The Practical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High Priority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Critical business functions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High-risk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Frequently used paths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Security-sensitive areas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Complex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Lower Priority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Edge cases with low impact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Rarely used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Non-critical UI elements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Already stable components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Low-risk integrations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Fundamental Limitation: Testing is Always Incomplete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Mathematical Proof: Testing is Incomplete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i="1">
                <a:solidFill>
                  <a:srgbClr val="42AFFA"/>
                </a:solidFill>
              </a:defRPr>
            </a:pPr>
            <a:r>
              <a:t>"Program testing can be used to show the presence of bugs, but never to show their absence!" — Edsger W. Dijkstra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Example: Simple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Pesticide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Risk-Based Testing: The Practical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High Priority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Critical business functions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High-risk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Frequently used paths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Security-sensitive areas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Complex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Lower Priority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Edge cases with low impact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Rarely used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Non-critical UI elements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Already stable components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Low-risk integrations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Verification &amp; Validation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V&amp;V: Two Sides of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Both are essential for quality software!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"Are we building the product right?"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"Are we building the right product?"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Process and conformance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Product and user needs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During development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After development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Reviews, inspections, walkthroughs, static analysis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Testing, user acceptance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Meet specifications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Meet user expectations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Verification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Validation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Real-World Example: E-Commerce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Verification Activities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Review payment gateway integration code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Inspect security implementation (encryption)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Check compliance with PCI-DSS standards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Static analysis for SQL injection vulnerabilities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Code review for proper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Validation Activities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 checkout with various payment methods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Validate order confirmation emails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 with different browsers and devices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Verify inventory updates after purchase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UAT with real customers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Why Choose Testing Over Other Methods?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V-Model: Verification &amp; Validation in SDLC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Each development phase has corresponding testing phase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Verification &amp; Validation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V&amp;V: Two Sides of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Both are essential for quality software!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"Are we building the product right?"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"Are we building the right product?"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Process and conformance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Product and user needs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During development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After development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Reviews, inspections, walkthroughs, static analysis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Testing, user acceptance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Meet specifications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Meet user expectations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Verification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Validation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Real-World Example: E-Commerce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Verification Activities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Review payment gateway integration code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Inspect security implementation (encryption)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Check compliance with PCI-DSS standards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Static analysis for SQL injection vulnerabilities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Code review for proper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Validation Activities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 checkout with various payment methods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Validate order confirmation emails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 with different browsers and devices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Verify inventory updates after purchase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UAT with real customers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Why Choose Testing Over Other Methods?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V-Model: Verification &amp; Validation in SDLC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Each development phase has corresponding testing phase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QA vs Testing vs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Definitions and Distinctions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QA (Quality Assurance)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QC (Quality Control)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Process-oriented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Finding defects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Product-oriented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Proactive (Prevention)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Active (Detection)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Reactive (Correction)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Throughout SDLC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During &amp; after dev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After development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Prevent defects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Identify defects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Verify quality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Everyone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Testers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QC team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Wrong: "QA team just tests the software"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Right: QA is about the entire quality process, testing is just one part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QA includes: Process definition, standards, reviews, audits, training, metrics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Testing is: Execution of test cases to find bugs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QA can exist without testing, but testing should always be part of QA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Testing is a subset of QC, which is a subset of QA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QA vs Testing vs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Definitions and Distinctions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QA (Quality Assurance)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QC (Quality Control)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Process-oriented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Finding defects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Product-oriented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Proactive (Prevention)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Active (Detection)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Reactive (Correction)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Throughout SDLC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During &amp; after dev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After development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Prevent defects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Identify defects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Verify quality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Everyone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Testers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QC team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Wrong: "QA team just tests the software"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Right: QA is about the entire quality process, testing is just one part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QA includes: Process definition, standards, reviews, audits, training, metrics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Testing is: Execution of test cases to find bugs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QA can exist without testing, but testing should always be part of QA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Testing is a subset of QC, which is a subset of QA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QA Processes and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Phases of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Planning: Define scope, objectives, resources, schedule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Design: Create test strategies, test cases, test data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Execution: Run tests, log defects, retest fixes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Reporting: Analyze results, metrics, lessons learned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QA in Different 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🌊 Waterfall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Sequential phases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Testing after development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Comprehensive documentation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Formal sign-offs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🔄 Agile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Continuous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Testing in each sprint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Collaboration with dev team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Fast feedback loops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Industry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📜 ISO 9001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Quality Management System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Customer focus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Process approach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Continuous improvement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Evidence-based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⚡ IEEE Standards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IEEE 829: Test documentation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IEEE 730: Quality assurance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IEEE 1012: Verification &amp; validation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IEEE 12207: Software lifecycle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QA Processes and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Phases of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Planning: Define scope, objectives, resources, schedule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Design: Create test strategies, test cases, test data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Execution: Run tests, log defects, retest fixes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Reporting: Analyze results, metrics, lessons learned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QA in Different 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🌊 Waterfall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Sequential phases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Testing after development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Comprehensive documentation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Formal sign-offs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🔄 Agile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Continuous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Testing in each sprint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Collaboration with dev team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Fast feedback loops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Industry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📜 ISO 9001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Quality Management System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Customer focus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Process approach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Continuous improvement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Evidence-based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⚡ IEEE Standards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IEEE 829: Test documentation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IEEE 730: Quality assurance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IEEE 1012: Verification &amp; validation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IEEE 12207: Software lifecycle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Types of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Unit Testing: Test individual components/functions in isolation Example: Testing a calculateTotal() function with various inputs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Integration Testing: Test interactions between modules Example: Testing database connection with API endpoints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System Testing: Test complete, integrated system Example: End-to-end user workflows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Acceptance Testing: Verify system meets business requirements Example: User Acceptance Testing (UAT) before go-live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Non-Functional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Performance Testing: Test speed, scalability, stability Load Testing, Stress Testing, Spike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Security Testing: Identify vulnerabilities and risks Penetration Testing, Vulnerability Scanning, SQL Injection tests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Usability Testing: Evaluate user experience Navigation, Accessibility, User Interface consistency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Others: Compatibility, Reliability, Recovery, Maintainability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Testing Pyramid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Principle: More unit tests (fast, isolated), fewer E2E tests (slow, brittle)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Functional vs Non-Functional: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Both are essential for a quality product!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Functional Testing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Non-Functional Testing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What the system does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How well the system performs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Features, operations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Performance, usability, security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Based On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Requirements, specifications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Expectations, experience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Login, checkout, search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Load time, concurrent users, UX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 Before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Non-functional testing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Going live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Types of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Unit Testing: Test individual components/functions in isolation Example: Testing a calculateTotal() function with various inputs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Integration Testing: Test interactions between modules Example: Testing database connection with API endpoints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System Testing: Test complete, integrated system Example: End-to-end user workflows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Acceptance Testing: Verify system meets business requirements Example: User Acceptance Testing (UAT) before go-live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Non-Functional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Performance Testing: Test speed, scalability, stability Load Testing, Stress Testing, Spike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Security Testing: Identify vulnerabilities and risks Penetration Testing, Vulnerability Scanning, SQL Injection tests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Usability Testing: Evaluate user experience Navigation, Accessibility, User Interface consistency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Others: Compatibility, Reliability, Recovery, Maintainability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The Testing Pyramid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Principle: More unit tests (fast, isolated), fewer E2E tests (slow, brittle)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Functional vs Non-Functional: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Both are essential for a quality product!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Functional Testing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Non-Functional Testing</a:t>
                      </a:r>
                    </a:p>
                  </a:txBody>
                  <a:tcPr>
                    <a:solidFill>
                      <a:srgbClr val="42AF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What the system does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How well the system performs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Features, operations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Performance, usability, security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Based On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Requirements, specifications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Expectations, experience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Login, checkout, search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Load time, concurrent users, UX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 Before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Non-functional testing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Going live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Modern QA Trends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Shift-Left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Traditional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Shift-Left Approach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Shift-Right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Concept: Testing in production with real users and real data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Techniques: A/B Testing: Compare variants to optimize UX Canary Releases: Gradual rollout to subset of users Feature Flags: Toggle features on/off in production Chaos Engineering: Inject failures to test resilience Real User Monitoring (RUM): Track actual user behavior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Goal: Validate assumptions with real-world usage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Test Automation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🌐 Web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Selenium: Most popular, multi-browser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Cypress: Fast, developer-friendly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Playwright: Modern, multi-browser, fast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Puppeteer: Chrome DevTools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📱 Mobile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Appium: Cross-platform mobile automation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Espresso: Android native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XCTest: iOS native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Detox: React Native testing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AI-Powered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 Case Generation: AI analyzes code to create test cases automatically Tools: Testim.io, Mabl, Applitools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Self-Healing Tests: Tests automatically adapt to UI changes Reduces maintenance overhead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Visual Testing: AI detects visual regressions Tools: Applitools Eyes, Percy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Predictive Analytics: ML predicts high-risk areas for testing Optimizes test coverage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Intelligent Test Prioritization: AI determines which tests to run first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Other Modern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🤖 BDD/TDD: Behavior/Test-Driven Development (Cucumber, Jest)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🔗 CI/CD Integration: Automated testing in pipelines (Jenkins, GitHub Actions, GitLab CI)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☁️ Cloud Testing: Scalable test environments (BrowserStack, Sauce Labs)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🐳 Containerization: Consistent test environments (Docker, Kubernetes)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📊 Test Analytics: Data-driven insights (Test dashboards, metrics)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♿ Accessibility Testing: WCAG compliance (axe, WAVE)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Modern QA Trends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Shift-Left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Traditional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Shift-Left Approach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Shift-Right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Concept: Testing in production with real users and real data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Techniques: A/B Testing: Compare variants to optimize UX Canary Releases: Gradual rollout to subset of users Feature Flags: Toggle features on/off in production Chaos Engineering: Inject failures to test resilience Real User Monitoring (RUM): Track actual user behavior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Goal: Validate assumptions with real-world usage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Test Automation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🌐 Web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Selenium: Most popular, multi-browser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Cypress: Fast, developer-friendly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Playwright: Modern, multi-browser, fast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Puppeteer: Chrome DevTools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📱 Mobile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Appium: Cross-platform mobile automation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Espresso: Android native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XCTest: iOS native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Detox: React Native testing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AI-Powered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 Case Generation: AI analyzes code to create test cases automatically Tools: Testim.io, Mabl, Applitools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Self-Healing Tests: Tests automatically adapt to UI changes Reduces maintenance overhead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Visual Testing: AI detects visual regressions Tools: Applitools Eyes, Percy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Predictive Analytics: ML predicts high-risk areas for testing Optimizes test coverage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Intelligent Test Prioritization: AI determines which tests to run first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Other Modern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🤖 BDD/TDD: Behavior/Test-Driven Development (Cucumber, Jest)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🔗 CI/CD Integration: Automated testing in pipelines (Jenkins, GitHub Actions, GitLab CI)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☁️ Cloud Testing: Scalable test environments (BrowserStack, Sauce Labs)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🐳 Containerization: Consistent test environments (Docker, Kubernetes)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📊 Test Analytics: Data-driven insights (Test dashboards, metrics)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♿ Accessibility Testing: WCAG compliance (axe, WAVE)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Challenges and Realities of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Common Challenges in Testing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⏰ Time Constraints: "We need to ship tomorrow, just skip testing!" Reality: Tight deadlines often sacrifice quality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📝 Incomplete Requirements: Vague or changing specifications Reality: Hard to test what isn't clearly defined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🔧 Test Environment Issues: Environment doesn't match production Reality: "It works on my machine!"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🔄 Test Maintenance: Keeping automated tests up-to-date Reality: Flaky tests, deprecated selectors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🤷 Lack of Respect: "Anyone can test, right?" Reality: Testing is a skilled profession!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Working with Other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🤝 Best Practices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Collaborate early and often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Clear communication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Shared quality ownership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Constructive feedback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Document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⚡ Common Tensions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Dev: "It's not a bug, it's a feature!"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PM: "Can we just test the happy path?"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Sales: "Client wants it today!"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Support: "Users reported this months ago!"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Real-Life Bug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More Testing Realities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💭 "We can't test everything" Use risk-based testing to prioritize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🎭 "Finding bugs doesn't make you popular" But it makes the product better!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🔍 "The best testers think like hackers" Creative, curious, boundary-pushing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📚 "Testing is 50% technical, 50% communication" Writing clear bug reports is an art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🎯 "100% test coverage ≠ Bug-free" Coverage is a metric, not a goal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Challenges and Realities of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Common Challenges in Testing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⏰ Time Constraints: "We need to ship tomorrow, just skip testing!" Reality: Tight deadlines often sacrifice quality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📝 Incomplete Requirements: Vague or changing specifications Reality: Hard to test what isn't clearly defined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🔧 Test Environment Issues: Environment doesn't match production Reality: "It works on my machine!"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🔄 Test Maintenance: Keeping automated tests up-to-date Reality: Flaky tests, deprecated selectors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🤷 Lack of Respect: "Anyone can test, right?" Reality: Testing is a skilled profession!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Working with Other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🤝 Best Practices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Collaborate early and often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Clear communication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Shared quality ownership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Constructive feedback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Document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⚡ Common Tensions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Dev: "It's not a bug, it's a feature!"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PM: "Can we just test the happy path?"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Sales: "Client wants it today!"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Support: "Users reported this months ago!"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Real-Life Bug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More Testing Realities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💭 "We can't test everything" Use risk-based testing to prioritize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🎭 "Finding bugs doesn't make you popular" But it makes the product better!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🔍 "The best testers think like hackers" Creative, curious, boundary-pushing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📚 "Testing is 50% technical, 50% communication" Writing clear bug reports is an art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🎯 "100% test coverage ≠ Bug-free" Coverage is a metric, not a goal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Career in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Skills Required for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🛠️ Technical Skills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Programming (Python, Java, JavaScript)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 automation frameworks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SQL and database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API testing (REST, GraphQL)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Version control (Git)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CI/CD tools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Performance testing tools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Security testing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🧠 Soft Skills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Analytical thinking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Attention to detail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Critical thinking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Communication (written &amp; verbal)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Collaboration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Problem-solving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Curiosity and creativity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Patience and persistence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QA Career Growth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Alternative Career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🤖 Automation Architect: Design and implement automation frameworks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🔒 Security Tester / Ethical Hacker: Specialize in security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⚡ Performance Engineer: Focus on load, stress, and scalability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💻 DevOps Engineer: Bridge development, testing, and operations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📊 Quality Analyst: Focus on metrics, reporting, and process improvement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🎓 QA Consultant / Trainer: Share expertise with organizations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💡 Product Manager: Leverage QA experience for product decisions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Certifications and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📜 Certifications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ISTQB (Foundation, Advanced, Expert)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Certified Agile Tester (CAT)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Certified Software Quality Analyst (CSQA)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Certified Test Manager (CTM)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Selenium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📚 Continuous Learning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Online courses (Udemy, Coursera)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QA blogs and communities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Testing conferences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GitHub projects and contributions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Practice on test automation projects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Salary and Job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💰 Competitive Salaries: QA roles are well-compensated Junior: $50-70K | Mid-Level: $70-100K | Senior: $100-140K+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📈 Growing Demand: Every software company needs QA Especially automation and security specialists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🌍 Remote Opportunities: Many QA roles are remote-friendly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🚀 Job Security: Quality will always be important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The future of QA is bright! 🌟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Career in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Skills Required for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🛠️ Technical Skills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Programming (Python, Java, JavaScript)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 automation frameworks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SQL and database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API testing (REST, GraphQL)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Version control (Git)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CI/CD tools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Performance testing tools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Security testing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🧠 Soft Skills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Analytical thinking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Attention to detail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Critical thinking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Communication (written &amp; verbal)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Collaboration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Problem-solving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Curiosity and creativity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Patience and persistence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QA Career Growth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Alternative Career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🤖 Automation Architect: Design and implement automation frameworks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🔒 Security Tester / Ethical Hacker: Specialize in security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⚡ Performance Engineer: Focus on load, stress, and scalability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💻 DevOps Engineer: Bridge development, testing, and operations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📊 Quality Analyst: Focus on metrics, reporting, and process improvement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🎓 QA Consultant / Trainer: Share expertise with organizations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💡 Product Manager: Leverage QA experience for product decisions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Certifications and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📜 Certifications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ISTQB (Foundation, Advanced, Expert)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Certified Agile Tester (CAT)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Certified Software Quality Analyst (CSQA)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Certified Test Manager (CTM)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Selenium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2AFFA"/>
                </a:solidFill>
              </a:defRPr>
            </a:pPr>
            <a:r>
              <a:t>📚 Continuous Learning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Online courses (Udemy, Coursera)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QA blogs and communities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Testing conferences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GitHub projects and contributions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Practice on test automation projects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Salary and Job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💰 Competitive Salaries: QA roles are well-compensated Junior: $50-70K | Mid-Level: $70-100K | Senior: $100-140K+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📈 Growing Demand: Every software company needs QA Especially automation and security specialists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🌍 Remote Opportunities: Many QA roles are remote-friendly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🚀 Job Security: Quality will always be important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The future of QA is bright! 🌟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Q&amp;A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Let's Discuss!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What's the most interesting bug you've ever found?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Have you worked with any test automation tools? Which ones?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What do you think is the biggest challenge in QA today?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How do you balance speed vs. quality in your projects?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What's your experience with CI/CD and automated testing?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Scenario: You Be the Tester!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Poll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Your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QA processes and best practices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Testing tools and technologies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Career paths in QA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Real-world testing challenges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Getting started in QA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Q&amp;A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Let's Discuss!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What's the most interesting bug you've ever found?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Have you worked with any test automation tools? Which ones?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What do you think is the biggest challenge in QA today?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How do you balance speed vs. quality in your projects?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❓ What's your experience with CI/CD and automated testing?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Scenario: You Be the Tester!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Poll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Your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QA processes and best practices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Testing tools and technologies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Career paths in QA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Real-world testing challenges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Getting started in QA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QA ≠ Testing: QA is the process, testing is one part of it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Test Early: Shift-Left saves time and money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Embrace Automation: But don't forget exploratory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Quality is Everyone's Job: Not just the QA team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Stay Curious: Technology evolves, keep learning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Communication Matters: Technical and soft skills are both crucial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2AFFA"/>
                </a:solidFill>
              </a:defRPr>
            </a:pPr>
            <a:r>
              <a:t>Quality is not an act, it is a habit.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— Aristotle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QA ≠ Testing: QA is the process, testing is one part of it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Test Early: Shift-Left saves time and money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Embrace Automation: But don't forget exploratory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Quality is Everyone's Job: Not just the QA team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Stay Curious: Technology evolves, keep learning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Communication Matters: Technical and soft skills are both crucial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AFFA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2AFFA"/>
                </a:solidFill>
              </a:defRPr>
            </a:pPr>
            <a:r>
              <a:t>Quality is not an act, it is a habit.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— Aristotle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